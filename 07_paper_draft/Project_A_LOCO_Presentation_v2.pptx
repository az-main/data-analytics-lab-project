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project in one sentence: an end-to-end, auditable anomaly-detection system for the MVTec LOCO benchmark. Mention the three headline numbers and that everything shown is reproducible from the repo. 30–40 seconds,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breath per box. Signal that results AND their honest limits both get airtime — that is the story of the project: rigor over leaderboard-chasing.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 the problem before the solution. Emphasise point 2: it predicts the whole method design — we will need local AND global detectors. Point at the breakfast box: every patch is normal, the composition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conceptual slide. Make the audience predict the method: local memory for structural, something global for logical. If they get this, the rest of the talk is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protocol point: the validation split has NO anomalies. Every threshold and every fusion weight must therefore come from good images only — this constraint shapes the whole calibration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reviewers tend to reward: most course projects skip the audit. Stress the zero-leakage finding and that masks use nearest-neighbour interpolation — a classic silent bug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maps 1:1 to a design decision — say that mapping out loud. Finding 1 → two branch families; finding 2 → padding caveat (returns on the limitations slide); finding 3 → region-aware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scientific process. One sentence of humility ('our first idea failed') buys a lot of credibility for the numbers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in ~45 seconds. The two highlighted boxes are where this project differs from a baseline run: frozen-feature scorers and validation-only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D1 is the literature workhorse — give it 30 seconds. Spend the time on D2: same memory idea, but conditioned on position, which is exactly what misplaced-part anomalies need. It is also 2.4x faster because each query searches a 36x smaller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honesty beats live here: D4 is explicitly a proxy (named as such everywhere), and D3's weak standalone number is shown in red — it sets up the feature-selection slide where it turns out to actively hurt the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audience remembers one methods detail, make it this: nothing downstream of the train/val split ever sees a test label. The fusion rule itself was committed to in advance — the ablation exists for completeness, not cherry-picking.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on this slide. Read the fusion bar triplet once, then the two takeaways on the right. Anticipate the question 'why is 0.76 good?' — answer comes two slides later in the SOTA positioning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pushpins row is the most quotable: 0.983 vs 0.600 in one category is the cleanest possible demonstration that structural and logical anomalies are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analytical heart of the deck — feature selection done on representations, evaluated leakage-free. The counter-intuitive pair (weak-but-complementary vs decent-but-harmful) usually gets the best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messages: (1) hyperparameter selection cannot have leaked test signal — grids were judged on validation-good stability; (2) the system is deployable on CPU, which matters for factory edge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physically at one card and read it: image, truth, score vs threshold, verdict. Showing a miss on your own slide is the credibility move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live demo is allowed, switch to the real dashboard here (it opens offline). Otherwise walk the screenshot: stat cards, dataset table, methods text — all generated from the same CSVs as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obvious challenge ('SOTA is 0.95, you have 0.76'). The three-card framing converts it: we know exactly which engineering steps buy the next ~0.1, and we did not spend our budget on training — we spent it on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Symmetry sells it: every limitation on the left has a numbered fix on the right. P0 items are in-progress engineering, not aspirations.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four numbered cards in order — they recapitulate the agenda. End on the amber line; it is the thesis sentence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the live dashboard for the Q&amp;A screen. Likely questions: why not train the backbone (answer: reproducibility budget + frozen features already close most of the gap), and how the 0.83–0.90 headroom estimate was derived (padding/backbone/multi-seed itemisation on slide 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DATA ANALYTICS LAB · 8TH TRIMESTER · PROJECT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2F5FA"/>
                </a:solidFill>
                <a:latin typeface="Trebuchet MS"/>
              </a:rPr>
              <a:t>LOCO Anomaly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6858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0" i="0">
                <a:solidFill>
                  <a:srgbClr val="9FB0C9"/>
                </a:solidFill>
                <a:latin typeface="Calibri"/>
              </a:rPr>
              <a:t>Logical &amp; structural anomaly detection on the MVTec LOCO AD industrial benchmark — a leakage-free DINOv2 pipeline with validated fusion and an explainable, fully offline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A"/>
                </a:solidFill>
                <a:latin typeface="Trebuchet MS"/>
              </a:rPr>
              <a:t>Azmain Islam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    ·    ID 0152330058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4164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A"/>
                </a:solidFill>
                <a:latin typeface="Trebuchet MS"/>
              </a:rPr>
              <a:t>Shamanta Rahman Roza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    ·    ID 0152330045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43984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Data Analytics Lab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A623"/>
                </a:solidFill>
                <a:latin typeface="Trebuchet MS"/>
              </a:rPr>
              <a:t>3,651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223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images · 5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892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A623"/>
                </a:solidFill>
                <a:latin typeface="Trebuchet MS"/>
              </a:rPr>
              <a:t>0.761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54223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fused image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8920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A623"/>
                </a:solidFill>
                <a:latin typeface="Trebuchet M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42239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offline, reproducible</a:t>
            </a:r>
          </a:p>
        </p:txBody>
      </p:sp>
      <p:pic>
        <p:nvPicPr>
          <p:cNvPr id="15" name="Picture 14" descr="ex_breakfast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1874519" cy="1874519"/>
          </a:xfrm>
          <a:prstGeom prst="rect">
            <a:avLst/>
          </a:prstGeom>
        </p:spPr>
      </p:pic>
      <p:pic>
        <p:nvPicPr>
          <p:cNvPr id="16" name="Picture 15" descr="ex_juice_struct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325880"/>
            <a:ext cx="1874519" cy="1874519"/>
          </a:xfrm>
          <a:prstGeom prst="rect">
            <a:avLst/>
          </a:prstGeom>
        </p:spPr>
      </p:pic>
      <p:pic>
        <p:nvPicPr>
          <p:cNvPr id="17" name="Picture 16" descr="ex_pushpins_log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337560"/>
            <a:ext cx="1874519" cy="1874519"/>
          </a:xfrm>
          <a:prstGeom prst="rect">
            <a:avLst/>
          </a:prstGeom>
        </p:spPr>
      </p:pic>
      <p:pic>
        <p:nvPicPr>
          <p:cNvPr id="18" name="Picture 17" descr="ex_splicing_log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3337560"/>
            <a:ext cx="1874519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1000" y="534924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9FB0C9"/>
                </a:solidFill>
                <a:latin typeface="Calibri"/>
              </a:rPr>
              <a:t>MVTec LOCO AD test samples — ground-truth defect regions in 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What this talk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Problem &amp;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3405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Why logical anomalies break classic AD; the MVTec LOCO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500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Data audit &amp;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3405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Leakage checks, letterbox preprocessing, and the EDA that shaped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8288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500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3405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Four frozen-DINOv2 detectors and a validation-only 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69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Results &amp; ablations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7433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Main table, per-category analysis, feature selection, efficiency.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069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Explainability &amp;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7433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Every decision inspectable in a self-contained offline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0480"/>
            <a:ext cx="3611880" cy="2011680"/>
          </a:xfrm>
          <a:prstGeom prst="roundRect">
            <a:avLst>
              <a:gd name="adj" fmla="val 636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069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5A623"/>
                </a:solidFill>
                <a:latin typeface="Trebuchet M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2F5FA"/>
                </a:solidFill>
                <a:latin typeface="Trebuchet MS"/>
              </a:rPr>
              <a:t>Limits &amp;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7433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Honest positioning vs SOTA and what comes next.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Why industrial anomaly detection is hard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600200"/>
            <a:ext cx="475488" cy="475488"/>
          </a:xfrm>
          <a:prstGeom prst="ellipse">
            <a:avLst/>
          </a:prstGeom>
          <a:solidFill>
            <a:srgbClr val="1F2D4A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5A623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6362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F5FA"/>
                </a:solidFill>
                <a:latin typeface="Trebuchet MS"/>
              </a:rPr>
              <a:t>No labels for what can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Production lines collect thousands of good images but few, unpredictable defects. Models must train on normal data only — unsupervised anomaly detection.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172968"/>
            <a:ext cx="475488" cy="475488"/>
          </a:xfrm>
          <a:prstGeom prst="ellipse">
            <a:avLst/>
          </a:prstGeom>
          <a:solidFill>
            <a:srgbClr val="1F2D4A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5A623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36391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F5FA"/>
                </a:solidFill>
                <a:latin typeface="Trebuchet MS"/>
              </a:rPr>
              <a:t>Two very different failure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38727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Local damage (a scratch, a contamination) and global rule violations (missing, extra or misplaced parts) leave completely different statistical footprints.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745736"/>
            <a:ext cx="475488" cy="475488"/>
          </a:xfrm>
          <a:prstGeom prst="ellipse">
            <a:avLst/>
          </a:prstGeom>
          <a:solidFill>
            <a:srgbClr val="1F2D4A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5A623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09159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F5FA"/>
                </a:solidFill>
                <a:latin typeface="Trebuchet MS"/>
              </a:rPr>
              <a:t>Decisions must be 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111496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A bare score convinces nobody on a factory floor. Operators need the score, the threshold it is compared against, and the evidence — for every single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54480"/>
            <a:ext cx="4370832" cy="4892040"/>
          </a:xfrm>
          <a:prstGeom prst="roundRect">
            <a:avLst>
              <a:gd name="adj" fmla="val 261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_breakfast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828800"/>
            <a:ext cx="3657600" cy="3657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16952" y="557784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F2F5FA"/>
                </a:solidFill>
                <a:latin typeface="Calibri"/>
              </a:rPr>
              <a:t>Nothing here is damaged. </a:t>
            </a:r>
            <a:r>
              <a:rPr sz="1200" b="0" i="0">
                <a:solidFill>
                  <a:srgbClr val="9FB0C9"/>
                </a:solidFill>
                <a:latin typeface="Calibri"/>
              </a:rPr>
              <a:t>The compartment contents violate the product's composition rules — a logical anomaly (ground-truth region in 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Two kinds of anomaly, one detector budget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486400" cy="4041648"/>
          </a:xfrm>
          <a:prstGeom prst="roundRect">
            <a:avLst>
              <a:gd name="adj" fmla="val 3167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00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DCB8F"/>
                </a:solidFill>
                <a:latin typeface="Trebuchet MS"/>
              </a:rPr>
              <a:t>STRUCTURAL</a:t>
            </a:r>
            <a:r>
              <a:rPr sz="1500" b="1" i="0">
                <a:solidFill>
                  <a:srgbClr val="F2F5FA"/>
                </a:solidFill>
                <a:latin typeface="Trebuchet MS"/>
              </a:rPr>
              <a:t>  — appearance breaks</a:t>
            </a:r>
          </a:p>
        </p:txBody>
      </p:sp>
      <p:pic>
        <p:nvPicPr>
          <p:cNvPr id="7" name="Picture 6" descr="ex_juice_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57984"/>
            <a:ext cx="233172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7560" y="2157984"/>
            <a:ext cx="2468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F2F5FA"/>
                </a:solidFill>
                <a:latin typeface="Calibri"/>
              </a:rPr>
              <a:t>Local defects: scratches, dents, contaminations.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Evidence is confined to a small region — comparing patches against normal appearance finds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177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1">
                <a:solidFill>
                  <a:srgbClr val="9FB0C9"/>
                </a:solidFill>
                <a:latin typeface="Calibri"/>
              </a:rPr>
              <a:t>juice_bottle — a local defect near the bottle neck (red overlay). A patch-level nearest-neighbour search nails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486400" cy="4041648"/>
          </a:xfrm>
          <a:prstGeom prst="roundRect">
            <a:avLst>
              <a:gd name="adj" fmla="val 3167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00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A623"/>
                </a:solidFill>
                <a:latin typeface="Trebuchet MS"/>
              </a:rPr>
              <a:t>LOGICAL</a:t>
            </a:r>
            <a:r>
              <a:rPr sz="1500" b="1" i="0">
                <a:solidFill>
                  <a:srgbClr val="F2F5FA"/>
                </a:solidFill>
                <a:latin typeface="Trebuchet MS"/>
              </a:rPr>
              <a:t>  — rules break</a:t>
            </a:r>
          </a:p>
        </p:txBody>
      </p:sp>
      <p:pic>
        <p:nvPicPr>
          <p:cNvPr id="12" name="Picture 11" descr="ex_pushpins_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157984"/>
            <a:ext cx="23317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2560" y="2157984"/>
            <a:ext cx="2468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F2F5FA"/>
                </a:solidFill>
                <a:latin typeface="Calibri"/>
              </a:rPr>
              <a:t>Wrong count, position or combination of otherwise-normal parts.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Every patch looks perfectly normal in isolation; only the global composition is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46177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1">
                <a:solidFill>
                  <a:srgbClr val="9FB0C9"/>
                </a:solidFill>
                <a:latin typeface="Calibri"/>
              </a:rPr>
              <a:t>pushpins — extra / misplaced pins highlighted in red. No patch is locally abnormal.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42432"/>
            <a:ext cx="11201400" cy="713232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5A623"/>
                </a:solidFill>
                <a:latin typeface="Trebuchet MS"/>
              </a:rPr>
              <a:t>Why LOCO exists:  </a:t>
            </a:r>
            <a:r>
              <a:rPr sz="1250" b="0" i="0">
                <a:solidFill>
                  <a:srgbClr val="F2F5FA"/>
                </a:solidFill>
                <a:latin typeface="Calibri"/>
              </a:rPr>
              <a:t>patch-based detectors (PatchCore-style) excel at structural defects but are nearly blind to logical ones (Bergmann et al., IJCV 2022). Closing that gap drives every design choice that follows.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MVTec LOCO AD — five products, three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3,651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images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8132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1,778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train — good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48132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validation — good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8132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1,568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0116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 i="0">
                <a:solidFill>
                  <a:srgbClr val="9FB0C9"/>
                </a:solidFill>
                <a:latin typeface="Calibri"/>
              </a:rPr>
              <a:t>held-out test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7360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77724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2F5FA"/>
                          </a:solidFill>
                          <a:latin typeface="Trebuchet MS"/>
                        </a:rPr>
                        <a:t>Category</a:t>
                      </a:r>
                    </a:p>
                  </a:txBody>
                  <a:tcPr marL="91440" marR="45720" marT="27432" marB="27432" anchor="ctr">
                    <a:solidFill>
                      <a:srgbClr val="1F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2F5FA"/>
                          </a:solidFill>
                          <a:latin typeface="Trebuchet MS"/>
                        </a:rPr>
                        <a:t>Train</a:t>
                      </a:r>
                    </a:p>
                  </a:txBody>
                  <a:tcPr marL="91440" marR="45720" marT="27432" marB="27432" anchor="ctr">
                    <a:solidFill>
                      <a:srgbClr val="1F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2F5FA"/>
                          </a:solidFill>
                          <a:latin typeface="Trebuchet MS"/>
                        </a:rPr>
                        <a:t>Val</a:t>
                      </a:r>
                    </a:p>
                  </a:txBody>
                  <a:tcPr marL="91440" marR="45720" marT="27432" marB="27432" anchor="ctr">
                    <a:solidFill>
                      <a:srgbClr val="1F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2F5FA"/>
                          </a:solidFill>
                          <a:latin typeface="Trebuchet MS"/>
                        </a:rPr>
                        <a:t>Test</a:t>
                      </a:r>
                    </a:p>
                  </a:txBody>
                  <a:tcPr marL="91440" marR="45720" marT="27432" marB="27432" anchor="ctr">
                    <a:solidFill>
                      <a:srgbClr val="1F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2F5FA"/>
                          </a:solidFill>
                          <a:latin typeface="Trebuchet MS"/>
                        </a:rPr>
                        <a:t>Test composition</a:t>
                      </a:r>
                    </a:p>
                  </a:txBody>
                  <a:tcPr marL="91440" marR="45720" marT="27432" marB="27432" anchor="ctr">
                    <a:solidFill>
                      <a:srgbClr val="1F2D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2F5FA"/>
                          </a:solidFill>
                          <a:latin typeface="Calibri"/>
                        </a:rPr>
                        <a:t>breakfast_box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102 good · 83 logical · 90 structural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2F5FA"/>
                          </a:solidFill>
                          <a:latin typeface="Calibri"/>
                        </a:rPr>
                        <a:t>juice_bottle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335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94 good · 142 logical · 94 structural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2F5FA"/>
                          </a:solidFill>
                          <a:latin typeface="Calibri"/>
                        </a:rPr>
                        <a:t>pushpins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138 good · 91 logical · 81 structural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2F5FA"/>
                          </a:solidFill>
                          <a:latin typeface="Calibri"/>
                        </a:rPr>
                        <a:t>screw_bag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341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122 good · 137 logical · 82 structural</a:t>
                      </a:r>
                    </a:p>
                  </a:txBody>
                  <a:tcPr marL="91440" marR="45720" marT="27432" marB="27432" anchor="ctr">
                    <a:solidFill>
                      <a:srgbClr val="141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F2F5FA"/>
                          </a:solidFill>
                          <a:latin typeface="Calibri"/>
                        </a:rPr>
                        <a:t>splicing_connectors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FB0C9"/>
                          </a:solidFill>
                          <a:latin typeface="Calibri"/>
                        </a:rPr>
                        <a:t>119 good · 108 logical · 85 structural</a:t>
                      </a:r>
                    </a:p>
                  </a:txBody>
                  <a:tcPr marL="91440" marR="45720" marT="27432" marB="27432" anchor="ctr">
                    <a:solidFill>
                      <a:srgbClr val="18233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9FB0C9"/>
                </a:solidFill>
                <a:latin typeface="Calibri"/>
              </a:rPr>
              <a:t>Validation contains only good images — anomaly types are unknown until test time, by design.</a:t>
            </a:r>
          </a:p>
        </p:txBody>
      </p:sp>
      <p:pic>
        <p:nvPicPr>
          <p:cNvPr id="15" name="Picture 14" descr="ex_screwbag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81328"/>
            <a:ext cx="2240280" cy="2240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2121408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1">
                <a:solidFill>
                  <a:srgbClr val="9FB0C9"/>
                </a:solidFill>
                <a:latin typeface="Calibri"/>
              </a:rPr>
              <a:t>screw_bag — wrong part set (red)</a:t>
            </a:r>
          </a:p>
        </p:txBody>
      </p:sp>
      <p:pic>
        <p:nvPicPr>
          <p:cNvPr id="17" name="Picture 16" descr="ex_splicing_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950208"/>
            <a:ext cx="2240280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07040" y="4590288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1">
                <a:solidFill>
                  <a:srgbClr val="9FB0C9"/>
                </a:solidFill>
                <a:latin typeface="Calibri"/>
              </a:rPr>
              <a:t>splicing_connectors — wiring rule violation (red)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RIGOR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Data audit &amp; preprocessing — before any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7393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922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Raw data is read-only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1284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Full inventory of 3,651 product images + 1,246 defect masks; per-file MD5 manifest stored as CSV. The raw tree is never modified.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72768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7393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79" y="17922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Aspect-preserving letterbox to 384×384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21284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Bilinear for images, nearest-neighbour for masks (labels must stay binary). Scale and padding offsets logged per image — every pixel is traceable 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94176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9534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136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Cross-split leakage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34256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MD5 + perceptual hashing compared across train / validation / test. Result: zero duplicate leaks. The headline numbers cannot be inflated by memorised images.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94176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89534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9136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Split discipline, enforced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4334256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Fit on Train(good). Calibrate on Validation(good). Test stays untouched until the final, single evaluation pass. No test labels in any tuning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F5A623"/>
                </a:solidFill>
                <a:latin typeface="Calibri"/>
              </a:rPr>
              <a:t>Every step emits CSV artifacts (hashes, counts, resize metadata) — the audit is reproducible, not anecdotal.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EDA that informed the model — not decoration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7FB3E8"/>
                </a:solidFill>
                <a:latin typeface="Trebuchet MS"/>
              </a:rPr>
              <a:t>Defect footprint separates the two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Structural masks are small and local (median ≈ 1–2% of the image). Logical masks can cover over 30% (screw_bag). One detector cannot serve both — we need local and global branches.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7FB3E8"/>
                </a:solidFill>
                <a:latin typeface="Trebuchet MS"/>
              </a:rPr>
              <a:t>Anomalies live on the product, not the padding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19856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Defect-frequency heatmaps concentrate on the object region. Letterbox borders carry no defect signal — yet still feed the feature extractor. We track this as a known caveat.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1713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7FB3E8"/>
                </a:solidFill>
                <a:latin typeface="Trebuchet MS"/>
              </a:rPr>
              <a:t>Five very different layouts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01184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Fixed grid (pushpins) vs free-form tray (breakfast_box): no single spatial prior fits all. Position must be modeled explicitly — this motivates the region-aware memory.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F5A623"/>
                </a:solidFill>
                <a:latin typeface="Calibri"/>
              </a:rPr>
              <a:t>Test anomalies are used for descriptive EDA only — never for model tuning.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554480"/>
            <a:ext cx="4370832" cy="4572000"/>
          </a:xfrm>
          <a:prstGeom prst="roundRect">
            <a:avLst>
              <a:gd name="adj" fmla="val 28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da_spatial_heatmap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1783080"/>
            <a:ext cx="3858768" cy="3218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25512" y="507492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2F5FA"/>
                </a:solidFill>
                <a:latin typeface="Calibri"/>
              </a:rPr>
              <a:t>Where defects occur (all categories pooled): </a:t>
            </a:r>
            <a:r>
              <a:rPr sz="1150" b="0" i="0">
                <a:solidFill>
                  <a:srgbClr val="9FB0C9"/>
                </a:solidFill>
                <a:latin typeface="Calibri"/>
              </a:rPr>
              <a:t>frequency mass sits on the product region; padding stays dark.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A NEGATIVE RESULT WE KEPT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Probe: can we just segment &amp; count components?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7FB3E8"/>
                </a:solidFill>
                <a:latin typeface="Trebuchet MS"/>
              </a:rPr>
              <a:t>Hypothesis: </a:t>
            </a:r>
            <a:r>
              <a:rPr sz="1300" b="0" i="0">
                <a:solidFill>
                  <a:srgbClr val="F2F5FA"/>
                </a:solidFill>
                <a:latin typeface="Calibri"/>
              </a:rPr>
              <a:t>if components could be segmented and counted reliably, logical anomalies would reduce to comparing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7FB3E8"/>
                </a:solidFill>
                <a:latin typeface="Trebuchet MS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313432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PCA-RGB projection + K-means clustering on frozen DINOv2 patch features; connected components treated as candidate 'parts'.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39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7FB3E8"/>
                </a:solidFill>
                <a:latin typeface="Trebuchet M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502151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Counts are unstable even between two normal images of the same product — 6 vs 1 components on near-identical breakfast trays. Clusters track texture, not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F5A623"/>
                </a:solidFill>
                <a:latin typeface="Trebuchet M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90872"/>
            <a:ext cx="5440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 i="0">
                <a:solidFill>
                  <a:srgbClr val="9FB0C9"/>
                </a:solidFill>
                <a:latin typeface="Calibri"/>
              </a:rPr>
              <a:t>Reject explicit component counting as the main method. Encode composition statistically instead: visual-word histograms + region-aware memories.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5A623"/>
                </a:solidFill>
                <a:latin typeface="Trebuchet MS"/>
              </a:rPr>
              <a:t>Why show a failure? </a:t>
            </a:r>
            <a:r>
              <a:rPr sz="1250" b="0" i="0">
                <a:solidFill>
                  <a:srgbClr val="F2F5FA"/>
                </a:solidFill>
                <a:latin typeface="Calibri"/>
              </a:rPr>
              <a:t>Cheap probes killed a dead-end before it became the project. Negative results steer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17320"/>
            <a:ext cx="4005072" cy="5029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b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00200"/>
            <a:ext cx="3639312" cy="4206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5852160"/>
            <a:ext cx="36393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444C5A"/>
                </a:solidFill>
                <a:latin typeface="Calibri"/>
              </a:rPr>
              <a:t>image · PCA-RGB · components — two normal trays yield counts 6 vs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METHOD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One pipeline, end to end — every stage auditable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855" y="1645920"/>
            <a:ext cx="2084831" cy="178308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1159" y="1810512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Audit + letterbox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159" y="2395728"/>
            <a:ext cx="17922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read-only raw, MD5 manifest, 384×384 letterbox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43403" y="2395728"/>
            <a:ext cx="192024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9143" y="1645920"/>
            <a:ext cx="2084831" cy="178308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5447" y="1810512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50" b="1" i="0">
                <a:solidFill>
                  <a:srgbClr val="F5A623"/>
                </a:solidFill>
                <a:latin typeface="Trebuchet MS"/>
              </a:rPr>
              <a:t>Frozen DINOv2-small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447" y="2395728"/>
            <a:ext cx="17922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patch tokens, d = 384 — zero training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7691" y="2395728"/>
            <a:ext cx="192024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3431" y="1645920"/>
            <a:ext cx="2084831" cy="178308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9735" y="1810512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Four anomaly scorers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9735" y="2395728"/>
            <a:ext cx="17922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2 local memories, 2 global descriptors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1979" y="2395728"/>
            <a:ext cx="192024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57719" y="1645920"/>
            <a:ext cx="2084831" cy="178308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4023" y="1810512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50" b="1" i="0">
                <a:solidFill>
                  <a:srgbClr val="F5A623"/>
                </a:solidFill>
                <a:latin typeface="Trebuchet MS"/>
              </a:rPr>
              <a:t>Calibrate &amp; fuse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4023" y="2395728"/>
            <a:ext cx="17922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z-norm + mean rule, Validation(good) only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56267" y="2395728"/>
            <a:ext cx="192024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2007" y="1645920"/>
            <a:ext cx="2084831" cy="178308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8311" y="1810512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Evaluate &amp;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8311" y="2395728"/>
            <a:ext cx="17922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held-out test, AUROC / F1 →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55" y="3703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FB0C9"/>
                </a:solidFill>
                <a:latin typeface="Trebuchet MS"/>
              </a:rPr>
              <a:t>THE FOUR SCORERS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41648"/>
            <a:ext cx="2670048" cy="96012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7FB3E8"/>
                </a:solidFill>
                <a:latin typeface="Trebuchet MS"/>
              </a:rPr>
              <a:t>Patch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07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local appearance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0420" y="4041648"/>
            <a:ext cx="2670048" cy="96012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330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5A623"/>
                </a:solidFill>
                <a:latin typeface="Trebuchet MS"/>
              </a:rPr>
              <a:t>Region-Aware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3300" y="4507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local + position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041648"/>
            <a:ext cx="2670048" cy="96012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DCB8F"/>
                </a:solidFill>
                <a:latin typeface="Trebuchet MS"/>
              </a:rPr>
              <a:t>Composition 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07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global counts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3980" y="4041648"/>
            <a:ext cx="2670048" cy="960120"/>
          </a:xfrm>
          <a:prstGeom prst="roundRect">
            <a:avLst>
              <a:gd name="adj" fmla="val 70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686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9FB0C9"/>
                </a:solidFill>
                <a:latin typeface="Trebuchet MS"/>
              </a:rPr>
              <a:t>Image-Stat (proxy)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6860" y="4507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0C9"/>
                </a:solidFill>
                <a:latin typeface="Calibri"/>
              </a:rPr>
              <a:t>global baseline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49240"/>
            <a:ext cx="11201400" cy="96012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522976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Trebuchet MS"/>
              </a:rPr>
              <a:t>Three rules everywhere:   </a:t>
            </a:r>
            <a:r>
              <a:rPr sz="1300" b="0" i="0">
                <a:solidFill>
                  <a:srgbClr val="F2F5FA"/>
                </a:solidFill>
                <a:latin typeface="Calibri"/>
              </a:rPr>
              <a:t>backbone stays frozen (zero training)  ·  test data never enters fitting or tuning  ·  every stage writes CSV artifacts that the report and dashboard are rebuilt from.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METHODS · LOCAL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Detectors 1–2: nearest-neighbour patch memories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486400" cy="4160520"/>
          </a:xfrm>
          <a:prstGeom prst="roundRect">
            <a:avLst>
              <a:gd name="adj" fmla="val 307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7FB3E8"/>
                </a:solidFill>
                <a:latin typeface="Trebuchet MS"/>
              </a:rPr>
              <a:t>D1 · DINOv2 Patch Memory</a:t>
            </a:r>
            <a:r>
              <a:rPr sz="1200" b="0" i="0">
                <a:solidFill>
                  <a:srgbClr val="9FB0C9"/>
                </a:solidFill>
                <a:latin typeface="Calibri"/>
              </a:rPr>
              <a:t>   (PatchCore-style)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39696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Build: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memory bank M of normal patch tokens (coreset, 50,000 entries, d = 384).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Score: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each test patch → cosine distance to its nearest normal patch; the image score is the worst patch.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Catches structural: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a damaged patch has no close normal neighbour.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24528"/>
            <a:ext cx="4892040" cy="566928"/>
          </a:xfrm>
          <a:prstGeom prst="roundRect">
            <a:avLst>
              <a:gd name="adj" fmla="val 7000"/>
            </a:avLst>
          </a:prstGeom>
          <a:solidFill>
            <a:srgbClr val="0E1624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342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DCB8F"/>
                </a:solidFill>
                <a:latin typeface="Calibri"/>
              </a:rPr>
              <a:t>s(x) = max</a:t>
            </a:r>
            <a:r>
              <a:rPr sz="1300" b="0" i="0" baseline="-25000">
                <a:solidFill>
                  <a:srgbClr val="3DCB8F"/>
                </a:solidFill>
                <a:latin typeface="Calibri"/>
              </a:rPr>
              <a:t>p</a:t>
            </a:r>
            <a:r>
              <a:rPr sz="1300" b="0" i="0">
                <a:solidFill>
                  <a:srgbClr val="3DCB8F"/>
                </a:solidFill>
                <a:latin typeface="Calibri"/>
              </a:rPr>
              <a:t> min</a:t>
            </a:r>
            <a:r>
              <a:rPr sz="1300" b="0" i="0" baseline="-25000">
                <a:solidFill>
                  <a:srgbClr val="3DCB8F"/>
                </a:solidFill>
                <a:latin typeface="Calibri"/>
              </a:rPr>
              <a:t>m∈M</a:t>
            </a:r>
            <a:r>
              <a:rPr sz="1300" b="0" i="0">
                <a:solidFill>
                  <a:srgbClr val="3DCB8F"/>
                </a:solidFill>
                <a:latin typeface="Calibri"/>
              </a:rPr>
              <a:t> [ 1 − cos(f</a:t>
            </a:r>
            <a:r>
              <a:rPr sz="1300" b="0" i="0" baseline="-25000">
                <a:solidFill>
                  <a:srgbClr val="3DCB8F"/>
                </a:solidFill>
                <a:latin typeface="Calibri"/>
              </a:rPr>
              <a:t>p</a:t>
            </a:r>
            <a:r>
              <a:rPr sz="1300" b="0" i="0">
                <a:solidFill>
                  <a:srgbClr val="3DCB8F"/>
                </a:solidFill>
                <a:latin typeface="Calibri"/>
              </a:rPr>
              <a:t>, m)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749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7FB3E8"/>
                </a:solidFill>
                <a:latin typeface="Trebuchet MS"/>
              </a:rPr>
              <a:t>AUROC 0.724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50749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9FB0C9"/>
                </a:solidFill>
                <a:latin typeface="Trebuchet MS"/>
              </a:rPr>
              <a:t>367 ms /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81328"/>
            <a:ext cx="5486400" cy="4160520"/>
          </a:xfrm>
          <a:prstGeom prst="roundRect">
            <a:avLst>
              <a:gd name="adj" fmla="val 307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5A623"/>
                </a:solidFill>
                <a:latin typeface="Trebuchet MS"/>
              </a:rPr>
              <a:t>D2 · Region-Aware Memory</a:t>
            </a:r>
            <a:r>
              <a:rPr sz="1200" b="0" i="0">
                <a:solidFill>
                  <a:srgbClr val="9FB0C9"/>
                </a:solidFill>
                <a:latin typeface="Calibri"/>
              </a:rPr>
              <a:t>   (strongest single)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39696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Build: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partition the token grid into 6×6 spatial regions; one memory per region (36 per category, 455k entries total).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Score: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a patch is compared only to normal patches from the same region — appearance and position must both match; mean of top-5 neighbour distances.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Catches: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“right part, wrong place” — the positional half of logical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8" y="50749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F5A623"/>
                </a:solidFill>
                <a:latin typeface="Trebuchet MS"/>
              </a:rPr>
              <a:t>AUROC 0.750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50749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9FB0C9"/>
                </a:solidFill>
                <a:latin typeface="Trebuchet MS"/>
              </a:rPr>
              <a:t>154 ms /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9FB0C9"/>
                </a:solidFill>
                <a:latin typeface="Calibri"/>
              </a:rPr>
              <a:t>All hyperparameters (region size 6, top-5) selected on validation-good stability — details on the ablation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METHODS · GLOBAL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Detectors 3–4: composition without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3181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3DCB8F"/>
                </a:solidFill>
                <a:latin typeface="Trebuchet MS"/>
              </a:rPr>
              <a:t>D3 · Composition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39696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Vocabulary: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k-means over normal patch tokens → 32 visual words.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Represent: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each image → normalised word histogram h(x): what is present, in what proportion.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Score: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Mahalanobis distance to the normal histogram distribution — counting without segmenting.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041648"/>
            <a:ext cx="4892040" cy="566928"/>
          </a:xfrm>
          <a:prstGeom prst="roundRect">
            <a:avLst>
              <a:gd name="adj" fmla="val 7000"/>
            </a:avLst>
          </a:prstGeom>
          <a:solidFill>
            <a:srgbClr val="0E1624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513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DCB8F"/>
                </a:solidFill>
                <a:latin typeface="Calibri"/>
              </a:rPr>
              <a:t>s(x) = √( (h−μ)</a:t>
            </a:r>
            <a:r>
              <a:rPr sz="1300" b="0" i="0" baseline="30000">
                <a:solidFill>
                  <a:srgbClr val="3DCB8F"/>
                </a:solidFill>
                <a:latin typeface="Calibri"/>
              </a:rPr>
              <a:t>T</a:t>
            </a:r>
            <a:r>
              <a:rPr sz="1300" b="0" i="0">
                <a:solidFill>
                  <a:srgbClr val="3DCB8F"/>
                </a:solidFill>
                <a:latin typeface="Calibri"/>
              </a:rPr>
              <a:t> Σ</a:t>
            </a:r>
            <a:r>
              <a:rPr sz="1300" b="0" i="0" baseline="30000">
                <a:solidFill>
                  <a:srgbClr val="3DCB8F"/>
                </a:solidFill>
                <a:latin typeface="Calibri"/>
              </a:rPr>
              <a:t>−1</a:t>
            </a:r>
            <a:r>
              <a:rPr sz="1300" b="0" i="0">
                <a:solidFill>
                  <a:srgbClr val="3DCB8F"/>
                </a:solidFill>
                <a:latin typeface="Calibri"/>
              </a:rPr>
              <a:t> (h−μ)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91947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E05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E0566B"/>
                </a:solidFill>
                <a:latin typeface="Trebuchet MS"/>
              </a:rPr>
              <a:t>AUROC 0.576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491947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9FB0C9"/>
                </a:solidFill>
                <a:latin typeface="Trebuchet MS"/>
              </a:rPr>
              <a:t>28 ms /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81328"/>
            <a:ext cx="5486400" cy="4023360"/>
          </a:xfrm>
          <a:prstGeom prst="roundRect">
            <a:avLst>
              <a:gd name="adj" fmla="val 3181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9FB0C9"/>
                </a:solidFill>
                <a:latin typeface="Trebuchet MS"/>
              </a:rPr>
              <a:t>D4 · Global Image-Stat</a:t>
            </a:r>
            <a:r>
              <a:rPr sz="1200" b="0" i="0">
                <a:solidFill>
                  <a:srgbClr val="9FB0C9"/>
                </a:solidFill>
                <a:latin typeface="Calibri"/>
              </a:rPr>
              <a:t>   (honestly-named proxy)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39696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One global descriptor per image, scored against the normal mean — an EfficientAD-style stand-in, deliberately labeled a proxy rather than passed off as the real network.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The only non-DINOv2 branch, and the fastest.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30" b="1" i="0">
                <a:solidFill>
                  <a:srgbClr val="F2F5FA"/>
                </a:solidFill>
                <a:latin typeface="Calibri"/>
              </a:rPr>
              <a:t>Weak alone — but the most complementary branch in fusion: removing it costs −0.043 AUROC (leave-one-out).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8" y="491947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9FB0C9"/>
                </a:solidFill>
                <a:latin typeface="Trebuchet MS"/>
              </a:rPr>
              <a:t>AUROC 0.655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491947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9FB0C9"/>
                </a:solidFill>
                <a:latin typeface="Trebuchet MS"/>
              </a:rPr>
              <a:t>21 ms / 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201400" cy="694944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0702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5A623"/>
                </a:solidFill>
                <a:latin typeface="Trebuchet MS"/>
              </a:rPr>
              <a:t>Design logic:  </a:t>
            </a:r>
            <a:r>
              <a:rPr sz="1250" b="0" i="0">
                <a:solidFill>
                  <a:srgbClr val="F2F5FA"/>
                </a:solidFill>
                <a:latin typeface="Calibri"/>
              </a:rPr>
              <a:t>two local + two global branches that fail differently. Fusion exploits their disagreement — single-branch weakness is not a verdict.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METHODS ·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Leakage-free fusion: calibrated on good images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9105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z-normalise each branch on Validation(good)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Branch scores live on different scales; statistics (μ, σ) come from good validation images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3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52927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Combine with the pre-specified mean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79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The mean rule was fixed before test evaluation. Max, rank-average and weighted variants are reported as ablations — weighted ties mean at 0.761.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9651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A623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4799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Threshold at the 90th percentile of fused val-good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45151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This single operating point drives every ✓/✗ verdict in the dashboard and the F1 numbers.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6080760" cy="658368"/>
          </a:xfrm>
          <a:prstGeom prst="roundRect">
            <a:avLst>
              <a:gd name="adj" fmla="val 7000"/>
            </a:avLst>
          </a:prstGeom>
          <a:solidFill>
            <a:srgbClr val="0E1624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961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3DCB8F"/>
                </a:solidFill>
                <a:latin typeface="Calibri"/>
              </a:rPr>
              <a:t>z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(x) = ( s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(x) − μ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 ) / σ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      s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fused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(x) = mean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 z</a:t>
            </a:r>
            <a:r>
              <a:rPr sz="1350" b="0" i="0" baseline="-25000">
                <a:solidFill>
                  <a:srgbClr val="3DCB8F"/>
                </a:solidFill>
                <a:latin typeface="Calibri"/>
              </a:rPr>
              <a:t>k</a:t>
            </a:r>
            <a:r>
              <a:rPr sz="1350" b="0" i="0">
                <a:solidFill>
                  <a:srgbClr val="3DCB8F"/>
                </a:solidFill>
                <a:latin typeface="Calibri"/>
              </a:rPr>
              <a:t>(x)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572768"/>
            <a:ext cx="4617720" cy="3840480"/>
          </a:xfrm>
          <a:prstGeom prst="roundRect">
            <a:avLst>
              <a:gd name="adj" fmla="val 333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_fusio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83080"/>
            <a:ext cx="4069080" cy="23500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4224528"/>
            <a:ext cx="4069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1" i="0">
                <a:solidFill>
                  <a:srgbClr val="F2F5FA"/>
                </a:solidFill>
                <a:latin typeface="Calibri"/>
              </a:rPr>
              <a:t>Fusion-rule ablation. </a:t>
            </a:r>
            <a:r>
              <a:rPr sz="1180" b="0" i="0">
                <a:solidFill>
                  <a:srgbClr val="9FB0C9"/>
                </a:solidFill>
                <a:latin typeface="Calibri"/>
              </a:rPr>
              <a:t>Mean (pre-specified) and validation-weighted average tie at 0.761; max and rank-average trail. No rule was picked using test labels.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576072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7FB3E8"/>
                </a:solidFill>
                <a:latin typeface="Trebuchet MS"/>
              </a:rPr>
              <a:t>FIT — Train(good)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23376" y="576072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F5A623"/>
                </a:solidFill>
                <a:latin typeface="Trebuchet MS"/>
              </a:rPr>
              <a:t>CALIBRATE — Val(good)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07624" y="576072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3DC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3DCB8F"/>
                </a:solidFill>
                <a:latin typeface="Trebuchet MS"/>
              </a:rPr>
              <a:t>REPORT — Test, untouched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Main results — fusion beats every single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7772400" cy="4251960"/>
          </a:xfrm>
          <a:prstGeom prst="roundRect">
            <a:avLst>
              <a:gd name="adj" fmla="val 301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7315200" cy="3575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32180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9FB0C9"/>
                </a:solidFill>
                <a:latin typeface="Calibri"/>
              </a:rPr>
              <a:t>Image-level AUROC, mean over 5 categories. PatchCore omitted: byte-identical to Patch Memory in this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5544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Trebuchet MS"/>
              </a:rPr>
              <a:t>0.761 — fusion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21408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vs 0.750 for the best single branch. Complementary local + global signals, fused with validation-only statistics.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1089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7FB3E8"/>
                </a:solidFill>
                <a:latin typeface="Trebuchet MS"/>
              </a:rPr>
              <a:t>Structural 0.804 / logical 0.731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75887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The logical side remains harder — exactly the gap the LOCO benchmark was built to expose.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6634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DCB8F"/>
                </a:solidFill>
                <a:latin typeface="Trebuchet MS"/>
              </a:rPr>
              <a:t>Real, verified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230368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Runtime logs record feature_backend = dinov2-small for every branch; deterministic config, fixed seeds.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9FB0C9"/>
                </a:solidFill>
                <a:latin typeface="Calibri"/>
              </a:rPr>
              <a:t>Every number regenerates from 06_method_results/Final_Evaluation/*.csv — the deck, report and dashboard all read the same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RESULTS · PER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Where it works, where it struggles —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263640" cy="3977639"/>
          </a:xfrm>
          <a:prstGeom prst="roundRect">
            <a:avLst>
              <a:gd name="adj" fmla="val 3218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perca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55648"/>
            <a:ext cx="5669280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486460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9FB0C9"/>
                </a:solidFill>
                <a:latin typeface="Calibri"/>
              </a:rPr>
              <a:t>Best Fusion, image-level AUROC on the held-out test split.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3DCB8F"/>
                </a:solidFill>
                <a:latin typeface="Trebuchet MS"/>
              </a:rPr>
              <a:t>juice_bottle &amp; breakfast_box: 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56816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160" b="0" i="0">
                <a:solidFill>
                  <a:srgbClr val="9FB0C9"/>
                </a:solidFill>
                <a:latin typeface="Calibri"/>
              </a:rPr>
              <a:t>0.840 / 0.820 overall — rich appearance cues suit patch memories; fill levels and fruit composition give global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127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A623"/>
                </a:solidFill>
                <a:latin typeface="Trebuchet MS"/>
              </a:rPr>
              <a:t>pushpins: a split personality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529584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160" b="0" i="0">
                <a:solidFill>
                  <a:srgbClr val="9FB0C9"/>
                </a:solidFill>
                <a:latin typeface="Calibri"/>
              </a:rPr>
              <a:t>Structural 0.983 (near-perfect) vs logical 0.600. Detecting a damaged pin ≠ noticing one pin too many — exact counting is still out of reach.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7000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E0566B"/>
                </a:solidFill>
                <a:latin typeface="Trebuchet MS"/>
              </a:rPr>
              <a:t>screw_bag &amp; splicing: the open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5102352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160" b="0" i="0">
                <a:solidFill>
                  <a:srgbClr val="9FB0C9"/>
                </a:solidFill>
                <a:latin typeface="Calibri"/>
              </a:rPr>
              <a:t>Logical 0.628 / 0.676. Small interchangeable parts in variable layouts need component-aware reasoning — our roadmap's P2.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9FB0C9"/>
                </a:solidFill>
                <a:latin typeface="Calibri"/>
              </a:rPr>
              <a:t>Consistent with the literature: across published methods, logical anomalies in counting-heavy categories remain the hardest cell of this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RESULTS ·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Feature selection: fewer branches, better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486400" cy="3246120"/>
          </a:xfrm>
          <a:prstGeom prst="roundRect">
            <a:avLst>
              <a:gd name="adj" fmla="val 394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5FA"/>
                </a:solidFill>
                <a:latin typeface="Trebuchet MS"/>
              </a:rPr>
              <a:t>Leave-one-out: what each branch adds</a:t>
            </a:r>
          </a:p>
        </p:txBody>
      </p:sp>
      <p:pic>
        <p:nvPicPr>
          <p:cNvPr id="7" name="Picture 6" descr="chart_loo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4937760" cy="21579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481328"/>
            <a:ext cx="5486400" cy="3246120"/>
          </a:xfrm>
          <a:prstGeom prst="roundRect">
            <a:avLst>
              <a:gd name="adj" fmla="val 394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5FA"/>
                </a:solidFill>
                <a:latin typeface="Trebuchet MS"/>
              </a:rPr>
              <a:t>Branch subsets: overall AUROC</a:t>
            </a:r>
          </a:p>
        </p:txBody>
      </p:sp>
      <p:pic>
        <p:nvPicPr>
          <p:cNvPr id="10" name="Picture 9" descr="chart_feature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4937760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983480"/>
            <a:ext cx="11201400" cy="141732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138928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F5A623"/>
                </a:solidFill>
                <a:latin typeface="Trebuchet MS"/>
              </a:rPr>
              <a:t>Drop the redundant duplicate + the harmful branch → 3-branch model: 0.764 overall, 0.826 structural — better than all five.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30" b="0" i="0">
                <a:solidFill>
                  <a:srgbClr val="F2F5FA"/>
                </a:solidFill>
                <a:latin typeface="Calibri"/>
              </a:rPr>
              <a:t>Composition Histogram hurts the fusion (−0.013) despite decent logical-only skill; the Global proxy is weak alone (0.655) yet most complementary (+0.043). Lesson: single-branch strength ≠ fusion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RESULTS · ABLATIONS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Hyperparameters picked blind; cost measured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A"/>
                </a:solidFill>
                <a:latin typeface="Trebuchet MS"/>
              </a:rPr>
              <a:t>Selected on validation-good stability — never on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Region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3957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4 ·</a:t>
            </a:r>
            <a:r>
              <a:rPr sz="1300" b="1" i="0">
                <a:solidFill>
                  <a:srgbClr val="F5A623"/>
                </a:solidFill>
                <a:latin typeface="Trebuchet MS"/>
              </a:rPr>
              <a:t> 6 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·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089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Neighbours top-k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108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1 ·</a:t>
            </a:r>
            <a:r>
              <a:rPr sz="1300" b="1" i="0">
                <a:solidFill>
                  <a:srgbClr val="F5A623"/>
                </a:solidFill>
                <a:latin typeface="Trebuchet MS"/>
              </a:rPr>
              <a:t> 5 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· 10 · mean ·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2219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Visual words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8221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16 ·</a:t>
            </a:r>
            <a:r>
              <a:rPr sz="1300" b="1" i="0">
                <a:solidFill>
                  <a:srgbClr val="F5A623"/>
                </a:solidFill>
                <a:latin typeface="Trebuchet MS"/>
              </a:rPr>
              <a:t> 32 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· 64 · 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354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>Fusion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5354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FB0C9"/>
                </a:solidFill>
                <a:latin typeface="Calibri"/>
              </a:rPr>
              <a:t/>
            </a:r>
            <a:r>
              <a:rPr sz="1300" b="1" i="0">
                <a:solidFill>
                  <a:srgbClr val="F5A623"/>
                </a:solidFill>
                <a:latin typeface="Trebuchet MS"/>
              </a:rPr>
              <a:t> mean </a:t>
            </a:r>
            <a:r>
              <a:rPr sz="1250" b="0" i="0">
                <a:solidFill>
                  <a:srgbClr val="9FB0C9"/>
                </a:solidFill>
                <a:latin typeface="Calibri"/>
              </a:rPr>
              <a:t>— pre-specified, no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2303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9FB0C9"/>
                </a:solidFill>
                <a:latin typeface="Calibri"/>
              </a:rPr>
              <a:t>Chosen values highlighted; full grids in the ablation CSVs.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481328"/>
            <a:ext cx="5852160" cy="4206240"/>
          </a:xfrm>
          <a:prstGeom prst="roundRect">
            <a:avLst>
              <a:gd name="adj" fmla="val 3043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645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5FA"/>
                </a:solidFill>
                <a:latin typeface="Trebuchet MS"/>
              </a:rPr>
              <a:t>Accuracy vs inference cost (CPU)</a:t>
            </a:r>
          </a:p>
        </p:txBody>
      </p:sp>
      <p:pic>
        <p:nvPicPr>
          <p:cNvPr id="18" name="Picture 17" descr="chart_spee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029968"/>
            <a:ext cx="52578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493776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Region-Aware sits on the sweet spot: best single AUROC at 2.4× less cost than Patch Memory (each query searches one region's memory, not all of it).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F5A623"/>
                </a:solidFill>
                <a:latin typeface="Calibri"/>
              </a:rPr>
              <a:t>No GPU training anywhere: frozen features + classical statistics. Full fusion ≈ 0.57 s per image on CPU.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Every decision is inspectable — successes and failures</a:t>
            </a:r>
          </a:p>
        </p:txBody>
      </p:sp>
      <p:pic>
        <p:nvPicPr>
          <p:cNvPr id="5" name="Picture 4" descr="dashboard_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532120" cy="4828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A"/>
                </a:solidFill>
                <a:latin typeface="Trebuchet MS"/>
              </a:rPr>
              <a:t>What each card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48256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Input image · ground-truth defect overlay (red) · fused score vs the validation threshold · verdict checked against the true label (✓/✗).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63824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Trebuchet MS"/>
              </a:rPr>
              <a:t>Failures are first-class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Example in row 1: score 1.22 vs threshold 1.88 → a missed structural defect, shown in red — visible, not hidden in an appendix.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81728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7FB3E8"/>
                </a:solidFill>
                <a:latin typeface="Trebuchet M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84064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Operators can audit any flag in seconds; we used the same view for error analysis (near-threshold breakfast_box false positives).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21792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9FB0C9"/>
                </a:solidFill>
                <a:latin typeface="Calibri"/>
              </a:rPr>
              <a:t>Per-image decisions, Explainability tab of the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A self-contained, offline analytics dashboard</a:t>
            </a:r>
          </a:p>
        </p:txBody>
      </p:sp>
      <p:pic>
        <p:nvPicPr>
          <p:cNvPr id="5" name="Picture 4" descr="dashboard_over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672084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72768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A623"/>
                </a:solidFill>
                <a:latin typeface="Trebuchet MS"/>
              </a:rPr>
              <a:t>One HTML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92024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No install, no server, no internet. Opens in any browser — submission-proof.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5176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Seven tabs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999232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Overview · EDA · Leaderboard · Feature Selection · Explainability · Per-category · Key Insights.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730752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Transparency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078224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States up front: real frozen DINOv2-small features, single seed, padding caveat. Honesty is part of the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809744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2F5FA"/>
                </a:solidFill>
                <a:latin typeface="Trebuchet MS"/>
              </a:rPr>
              <a:t>Always in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157216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30" b="0" i="0">
                <a:solidFill>
                  <a:srgbClr val="9FB0C9"/>
                </a:solidFill>
                <a:latin typeface="Calibri"/>
              </a:rPr>
              <a:t>Rebuilt directly from the result CSVs by script — the dashboard cannot drift from the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6720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DCB8F"/>
                </a:solidFill>
                <a:latin typeface="Trebuchet MS"/>
              </a:rPr>
              <a:t>Live demo: 09_dashboard/dashboard.html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HONEST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Where 0.761 sits — and what the gap is made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3291840"/>
          </a:xfrm>
          <a:prstGeom prst="roundRect">
            <a:avLst>
              <a:gd name="adj" fmla="val 3888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9FB0C9"/>
                </a:solidFill>
                <a:latin typeface="Trebuchet MS"/>
              </a:rPr>
              <a:t>OURS —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F5A623"/>
                </a:solidFill>
                <a:latin typeface="Trebuchet MS"/>
              </a:rPr>
              <a:t>0.761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30632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Frozen DINOv2-small · single seed · zero training · fully audited and reproducible from raw data to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611880" cy="3291840"/>
          </a:xfrm>
          <a:prstGeom prst="roundRect">
            <a:avLst>
              <a:gd name="adj" fmla="val 3888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9FB0C9"/>
                </a:solidFill>
                <a:latin typeface="Trebuchet MS"/>
              </a:rPr>
              <a:t>OURS — NEAR-TERM HEADROOM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7FB3E8"/>
                </a:solidFill>
                <a:latin typeface="Trebuchet MS"/>
              </a:rPr>
              <a:t>~0.83–0.90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30632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Mask the letterbox padding, upgrade to DINOv2-base, run multi-seed. Engineering steps — not a redesign.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611880" cy="3291840"/>
          </a:xfrm>
          <a:prstGeom prst="roundRect">
            <a:avLst>
              <a:gd name="adj" fmla="val 3888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8308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9FB0C9"/>
                </a:solidFill>
                <a:latin typeface="Trebuchet MS"/>
              </a:rPr>
              <a:t>PUBLISHED SOTA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4884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9FB0C9"/>
                </a:solidFill>
                <a:latin typeface="Trebuchet MS"/>
              </a:rPr>
              <a:t>0.95–0.96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71800"/>
            <a:ext cx="30632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CSAD / SALAD: component segmentation, heavy training pipelines, far higher complexity budgets.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38928"/>
            <a:ext cx="11201400" cy="128016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21808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5A623"/>
                </a:solidFill>
                <a:latin typeface="Trebuchet MS"/>
              </a:rPr>
              <a:t>We compete on rigor per unit of compute.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F2F5FA"/>
                </a:solidFill>
                <a:latin typeface="Calibri"/>
              </a:rPr>
              <a:t>Each method is named for what it actually computes, evaluation is leakage-free, and the data is audited end to end. The remaining gap is understood and itemised — not mysterious.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What we don't claim — and what comes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5486400" cy="4572000"/>
          </a:xfrm>
          <a:prstGeom prst="roundRect">
            <a:avLst>
              <a:gd name="adj" fmla="val 28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0566B"/>
                </a:solidFill>
                <a:latin typeface="Trebuchet MS"/>
              </a:rPr>
              <a:t>Known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9456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30" b="0" i="0">
                <a:solidFill>
                  <a:srgbClr val="E0566B"/>
                </a:solidFill>
                <a:latin typeface="Calibri"/>
              </a:rPr>
              <a:t>— 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Image-level metrics only — sPRO / pixel-level localization not yet reported.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30" b="0" i="0">
                <a:solidFill>
                  <a:srgbClr val="E0566B"/>
                </a:solidFill>
                <a:latin typeface="Calibri"/>
              </a:rPr>
              <a:t>— 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Letterbox padding still feeds the feature extractor (small, tracked bias).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30" b="0" i="0">
                <a:solidFill>
                  <a:srgbClr val="E0566B"/>
                </a:solidFill>
                <a:latin typeface="Calibri"/>
              </a:rPr>
              <a:t>— 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Single-seed results — no variance estimates yet.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30" b="0" i="0">
                <a:solidFill>
                  <a:srgbClr val="E0566B"/>
                </a:solidFill>
                <a:latin typeface="Calibri"/>
              </a:rPr>
              <a:t>— 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Global Image-Stat is a proxy, not the full EfficientAD it stands in for.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30" b="0" i="0">
                <a:solidFill>
                  <a:srgbClr val="E0566B"/>
                </a:solidFill>
                <a:latin typeface="Calibri"/>
              </a:rPr>
              <a:t>—  </a:t>
            </a:r>
            <a:r>
              <a:rPr sz="1230" b="0" i="0">
                <a:solidFill>
                  <a:srgbClr val="9FB0C9"/>
                </a:solidFill>
                <a:latin typeface="Calibri"/>
              </a:rPr>
              <a:t>Logical anomalies that require exact counting stay hard (pushpins logical 0.600).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81328"/>
            <a:ext cx="5486400" cy="4572000"/>
          </a:xfrm>
          <a:prstGeom prst="roundRect">
            <a:avLst>
              <a:gd name="adj" fmla="val 2800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DCB8F"/>
                </a:solidFill>
                <a:latin typeface="Trebuchet MS"/>
              </a:rPr>
              <a:t>Prioritised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6248" y="221284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F5A623"/>
                </a:solidFill>
                <a:latin typeface="Trebuchet MS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1945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Mask letterbox padding in feature space; re-run the full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296265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F5A623"/>
                </a:solidFill>
                <a:latin typeface="Trebuchet MS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94436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Backbone upgrade DINOv2-small → base (expected ≈ +0.05–0.08).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6248" y="3712463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7FB3E8"/>
                </a:solidFill>
                <a:latin typeface="Trebuchet MS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94176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Multi-seed runs; report mean ± std for every headline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6248" y="446227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7F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7FB3E8"/>
                </a:solidFill>
                <a:latin typeface="Trebuchet MS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443984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Add sPRO and pixel-level localization to evaluation +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6248" y="5212079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D4A"/>
          </a:solidFill>
          <a:ln w="12700">
            <a:solidFill>
              <a:srgbClr val="9FB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9FB0C9"/>
                </a:solidFill>
                <a:latin typeface="Trebuchet MS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19379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30" b="0" i="0">
                <a:solidFill>
                  <a:srgbClr val="9FB0C9"/>
                </a:solidFill>
                <a:latin typeface="Calibri"/>
              </a:rPr>
              <a:t>Component-aware logical branch (CSAD-style) for the counting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 i="0">
                <a:solidFill>
                  <a:srgbClr val="F2F5FA"/>
                </a:solidFill>
                <a:latin typeface="Trebuchet MS"/>
              </a:rPr>
              <a:t>Four things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608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56232"/>
            <a:ext cx="4251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A leakage-free pipeline,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68880"/>
            <a:ext cx="4251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Read-only raw data, hashed splits with zero duplicates, validation-only calibration, held-out test. Every artifact is a CSV you can re-run.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486400" cy="2103120"/>
          </a:xfrm>
          <a:prstGeom prst="roundRect">
            <a:avLst>
              <a:gd name="adj" fmla="val 608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8288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856232"/>
            <a:ext cx="4251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Fusion of complementary detectors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468880"/>
            <a:ext cx="4251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Four frozen-DINOv2 branches → 0.761 overall AUROC (0.731 logical / 0.804 structural), beating every single branch without training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486400" cy="2103120"/>
          </a:xfrm>
          <a:prstGeom prst="roundRect">
            <a:avLst>
              <a:gd name="adj" fmla="val 608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160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87952"/>
            <a:ext cx="4251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Feature selection beats feature accumulation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800600"/>
            <a:ext cx="4251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Leave-one-out analysis drops a duplicate and a harmful branch: the leaner 3-branch model reaches 0.764 overall and 0.826 structural.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486400" cy="2103120"/>
          </a:xfrm>
          <a:prstGeom prst="roundRect">
            <a:avLst>
              <a:gd name="adj" fmla="val 6086"/>
            </a:avLst>
          </a:prstGeom>
          <a:solidFill>
            <a:srgbClr val="1823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160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A623"/>
                </a:solidFill>
                <a:latin typeface="Trebuchet M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187952"/>
            <a:ext cx="4251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5FA"/>
                </a:solidFill>
                <a:latin typeface="Trebuchet MS"/>
              </a:rPr>
              <a:t>Explainability is a deliverable, not a slide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800600"/>
            <a:ext cx="4251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80" b="0" i="0">
                <a:solidFill>
                  <a:srgbClr val="9FB0C9"/>
                </a:solidFill>
                <a:latin typeface="Calibri"/>
              </a:rPr>
              <a:t>A self-contained offline dashboard shows score, threshold and evidence for every test decision — failures included.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F5A623"/>
                </a:solidFill>
                <a:latin typeface="Calibri"/>
              </a:rPr>
              <a:t>Rigor, reproducibility and explainability — that is the contribution. The leaderboard number is the start, not the 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A623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2F5FA"/>
                </a:solidFill>
                <a:latin typeface="Trebuchet MS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9"/>
                </a:solidFill>
                <a:latin typeface="Calibri"/>
              </a:rPr>
              <a:t>Everything in this talk regenerates from the repository — data audit → EDA → methods → results → dashboard → these slides.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6035040" cy="777240"/>
          </a:xfrm>
          <a:prstGeom prst="roundRect">
            <a:avLst>
              <a:gd name="adj" fmla="val 7000"/>
            </a:avLst>
          </a:prstGeom>
          <a:solidFill>
            <a:srgbClr val="1F2D4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A623"/>
                </a:solidFill>
                <a:latin typeface="Trebuchet MS"/>
              </a:rPr>
              <a:t>Live demo:  </a:t>
            </a:r>
            <a:r>
              <a:rPr sz="1300" b="0" i="0">
                <a:solidFill>
                  <a:srgbClr val="F2F5FA"/>
                </a:solidFill>
                <a:latin typeface="Consolas"/>
              </a:rPr>
              <a:t>09_dashboard/dashboard.html — fully offline</a:t>
            </a:r>
          </a:p>
        </p:txBody>
      </p:sp>
      <p:pic>
        <p:nvPicPr>
          <p:cNvPr id="8" name="Picture 7" descr="ex_breakfast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03120"/>
            <a:ext cx="1828800" cy="1828800"/>
          </a:xfrm>
          <a:prstGeom prst="rect">
            <a:avLst/>
          </a:prstGeom>
        </p:spPr>
      </p:pic>
      <p:pic>
        <p:nvPicPr>
          <p:cNvPr id="9" name="Picture 8" descr="ex_pushpins_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103120"/>
            <a:ext cx="1828800" cy="1828800"/>
          </a:xfrm>
          <a:prstGeom prst="rect">
            <a:avLst/>
          </a:prstGeom>
        </p:spPr>
      </p:pic>
      <p:pic>
        <p:nvPicPr>
          <p:cNvPr id="10" name="Picture 9" descr="ex_juice_struct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069080"/>
            <a:ext cx="1828800" cy="1828800"/>
          </a:xfrm>
          <a:prstGeom prst="rect">
            <a:avLst/>
          </a:prstGeom>
        </p:spPr>
      </p:pic>
      <p:pic>
        <p:nvPicPr>
          <p:cNvPr id="11" name="Picture 10" descr="ex_splicing_log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06908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428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FB0C9"/>
                </a:solidFill>
                <a:latin typeface="Trebuchet M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