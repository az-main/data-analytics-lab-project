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4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A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332720" cy="2011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4600" b="1" i="0">
                <a:solidFill>
                  <a:srgbClr val="FFFFFF"/>
                </a:solidFill>
                <a:latin typeface="Trebuchet MS"/>
              </a:rPr>
              <a:t>LOCO Anomaly Inspector</a:t>
            </a:r>
          </a:p>
          <a:p>
            <a:pPr algn="l">
              <a:spcAft>
                <a:spcPts val="200"/>
              </a:spcAft>
            </a:pPr>
            <a:r>
              <a:rPr sz="2100" b="0" i="0">
                <a:solidFill>
                  <a:srgbClr val="CADCFC"/>
                </a:solidFill>
                <a:latin typeface="Trebuchet MS"/>
              </a:rPr>
              <a:t>An interactive, reproducible system for logical &amp; structural anomaly detection</a:t>
            </a:r>
          </a:p>
          <a:p>
            <a:pPr algn="l">
              <a:spcAft>
                <a:spcPts val="2000"/>
              </a:spcAft>
            </a:pPr>
            <a:r>
              <a:rPr sz="2100" b="0" i="0">
                <a:solidFill>
                  <a:srgbClr val="CADCFC"/>
                </a:solidFill>
                <a:latin typeface="Trebuchet MS"/>
              </a:rPr>
              <a:t>on the MVTec LOCO AD industrial benchmark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AB3A3"/>
                </a:solidFill>
                <a:latin typeface="Calibri"/>
              </a:rPr>
              <a:t>Data Analytics Lab — Project A   •   Final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3A5F"/>
                </a:solidFill>
                <a:latin typeface="Trebuchet MS"/>
              </a:rPr>
              <a:t>Two kinds of defect — one is much harder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486400" cy="4846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1F3A5F"/>
                </a:solidFill>
                <a:latin typeface="Trebuchet MS"/>
              </a:rPr>
              <a:t>Structural anomalies</a:t>
            </a:r>
          </a:p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222B35"/>
                </a:solidFill>
                <a:latin typeface="Calibri"/>
              </a:rPr>
              <a:t>Local appearance defects — scratches, dents, cracks. Visible in a small region.</a:t>
            </a:r>
          </a:p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1F3A5F"/>
                </a:solidFill>
                <a:latin typeface="Trebuchet MS"/>
              </a:rPr>
              <a:t>Logical anomalies</a:t>
            </a:r>
          </a:p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222B35"/>
                </a:solidFill>
                <a:latin typeface="Calibri"/>
              </a:rPr>
              <a:t>Global rule violations — a missing fruit, an extra pushpin, a swapped part. Every region looks normal; only the overall composition is wrong.</a:t>
            </a:r>
          </a:p>
          <a:p>
            <a:pPr algn="l">
              <a:spcAft>
                <a:spcPts val="600"/>
              </a:spcAft>
            </a:pPr>
            <a:r>
              <a:rPr sz="1500" b="1" i="1">
                <a:solidFill>
                  <a:srgbClr val="1AB3A3"/>
                </a:solidFill>
                <a:latin typeface="Calibri"/>
              </a:rPr>
              <a:t>Trained only on defect-free images — no labelled defects.</a:t>
            </a:r>
          </a:p>
        </p:txBody>
      </p:sp>
      <p:pic>
        <p:nvPicPr>
          <p:cNvPr id="4" name="Picture 3" descr="figure_2_dataset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3740" y="1417320"/>
            <a:ext cx="388620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3A5F"/>
                </a:solidFill>
                <a:latin typeface="Trebuchet MS"/>
              </a:rPr>
              <a:t>What we built — and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6424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A6774"/>
                </a:solidFill>
                <a:latin typeface="Calibri"/>
              </a:rPr>
              <a:t>A self-contained dashboard + reproducible ML pipeline that detects and explains anomalies in industrial product images.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48840"/>
            <a:ext cx="5367528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377440"/>
            <a:ext cx="4818888" cy="141731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A5F"/>
                </a:solidFill>
                <a:latin typeface="Trebuchet MS"/>
              </a:rPr>
              <a:t>Detect both types</a:t>
            </a:r>
          </a:p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22B35"/>
                </a:solidFill>
                <a:latin typeface="Calibri"/>
              </a:rPr>
              <a:t>Flag logical and structural defects from good images only.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2148840"/>
            <a:ext cx="5367528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47104" y="2377440"/>
            <a:ext cx="4818888" cy="141731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A5F"/>
                </a:solidFill>
                <a:latin typeface="Trebuchet MS"/>
              </a:rPr>
              <a:t>Explain every decision</a:t>
            </a:r>
          </a:p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22B35"/>
                </a:solidFill>
                <a:latin typeface="Calibri"/>
              </a:rPr>
              <a:t>Show the anomaly score, the threshold, and where the defect 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51960"/>
            <a:ext cx="5367528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4480560"/>
            <a:ext cx="4818888" cy="141731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A5F"/>
                </a:solidFill>
                <a:latin typeface="Trebuchet MS"/>
              </a:rPr>
              <a:t>Relevant analysis only</a:t>
            </a:r>
          </a:p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22B35"/>
                </a:solidFill>
                <a:latin typeface="Calibri"/>
              </a:rPr>
              <a:t>Surface the EDA that informs the model — not decorative charts.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2784" y="4251960"/>
            <a:ext cx="5367528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7104" y="4480560"/>
            <a:ext cx="4818888" cy="141731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A5F"/>
                </a:solidFill>
                <a:latin typeface="Trebuchet MS"/>
              </a:rPr>
              <a:t>Fully reproducible</a:t>
            </a:r>
          </a:p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22B35"/>
                </a:solidFill>
                <a:latin typeface="Calibri"/>
              </a:rPr>
              <a:t>Fixed seeds, leakage-checked data, saved configs — every result is auditable.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3A5F"/>
                </a:solidFill>
                <a:latin typeface="Trebuchet MS"/>
              </a:rPr>
              <a:t>How it works — end to end</a:t>
            </a:r>
          </a:p>
        </p:txBody>
      </p:sp>
      <p:pic>
        <p:nvPicPr>
          <p:cNvPr id="3" name="Picture 2" descr="figure_1_pipelin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411" y="1371600"/>
            <a:ext cx="7252137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06440"/>
            <a:ext cx="1106424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1">
                <a:solidFill>
                  <a:srgbClr val="5A6774"/>
                </a:solidFill>
                <a:latin typeface="Calibri"/>
              </a:rPr>
              <a:t>Data audit &amp; letterbox preprocessing → EDA → four detectors → validation-only fusion → evaluation → dashboard &amp; report. All logic in one shared module.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4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Trebuchet MS"/>
              </a:rPr>
              <a:t>Data &amp; preprocessing rigor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2670048" cy="17373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19" y="1664208"/>
            <a:ext cx="2487168" cy="1554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4000" b="1" i="0">
                <a:solidFill>
                  <a:srgbClr val="1AB3A3"/>
                </a:solidFill>
                <a:latin typeface="Trebuchet MS"/>
              </a:rPr>
              <a:t>3,651</a:t>
            </a:r>
          </a:p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product images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554480"/>
            <a:ext cx="2670048" cy="17373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66160" y="1664208"/>
            <a:ext cx="2487168" cy="1554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4000" b="1" i="0">
                <a:solidFill>
                  <a:srgbClr val="1AB3A3"/>
                </a:solidFill>
                <a:latin typeface="Trebuchet MS"/>
              </a:rPr>
              <a:t>5</a:t>
            </a:r>
          </a:p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categories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2670048" cy="17373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64208"/>
            <a:ext cx="2487168" cy="1554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4000" b="1" i="0">
                <a:solidFill>
                  <a:srgbClr val="1AB3A3"/>
                </a:solidFill>
                <a:latin typeface="Trebuchet MS"/>
              </a:rPr>
              <a:t>0</a:t>
            </a:r>
          </a:p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cross-split leaks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554480"/>
            <a:ext cx="2670048" cy="17373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0" y="1664208"/>
            <a:ext cx="2487168" cy="1554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4000" b="1" i="0">
                <a:solidFill>
                  <a:srgbClr val="1AB3A3"/>
                </a:solidFill>
                <a:latin typeface="Trebuchet MS"/>
              </a:rPr>
              <a:t>384²</a:t>
            </a:r>
          </a:p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letterbox resize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39"/>
            <a:ext cx="10881360" cy="23774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800"/>
              </a:spcAft>
              <a:buChar char="▸"/>
            </a:pPr>
            <a:r>
              <a:rPr sz="1600" b="1" i="0">
                <a:solidFill>
                  <a:srgbClr val="FFFFFF"/>
                </a:solidFill>
                <a:latin typeface="Calibri"/>
              </a:rPr>
              <a:t>Raw dataset treated as read-only.</a:t>
            </a:r>
          </a:p>
          <a:p>
            <a:pPr algn="l">
              <a:spcAft>
                <a:spcPts val="800"/>
              </a:spcAft>
              <a:buChar char="▸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Aspect-preserving letterbox to 384×384 (bilinear images, nearest-neighbour masks).</a:t>
            </a:r>
          </a:p>
          <a:p>
            <a:pPr algn="l">
              <a:spcAft>
                <a:spcPts val="800"/>
              </a:spcAft>
              <a:buChar char="▸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MD5 + perceptual hashing across splits to detect duplicate leakage — none found.</a:t>
            </a:r>
          </a:p>
          <a:p>
            <a:pPr algn="l">
              <a:spcAft>
                <a:spcPts val="600"/>
              </a:spcAft>
              <a:buChar char="▸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Fit on Train(good); threshold on Validation(good); Test held out. No test labels in tuning.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3A5F"/>
                </a:solidFill>
                <a:latin typeface="Trebuchet MS"/>
              </a:rPr>
              <a:t>Four DINOv2 detectors + fusion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367528" cy="16642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54480"/>
            <a:ext cx="4855464" cy="12984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F3A5F"/>
                </a:solidFill>
                <a:latin typeface="Trebuchet MS"/>
              </a:rPr>
              <a:t>DINOv2 Patch Memory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B35"/>
                </a:solidFill>
                <a:latin typeface="Calibri"/>
              </a:rPr>
              <a:t>Memory bank of normal DINOv2 patch tokens; cosine nearest-neighbour distance. Catches structural defects.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72784" y="1371600"/>
            <a:ext cx="5367528" cy="16642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28816" y="1554480"/>
            <a:ext cx="4855464" cy="12984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F3A5F"/>
                </a:solidFill>
                <a:latin typeface="Trebuchet MS"/>
              </a:rPr>
              <a:t>DINOv2 Region-Aware Memory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B35"/>
                </a:solidFill>
                <a:latin typeface="Calibri"/>
              </a:rPr>
              <a:t>Memory conditioned on image region — adds positional awareness. Strongest single detector.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46120"/>
            <a:ext cx="5367528" cy="16642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3429000"/>
            <a:ext cx="4855464" cy="12984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F3A5F"/>
                </a:solidFill>
                <a:latin typeface="Trebuchet MS"/>
              </a:rPr>
              <a:t>DINOv2 Composition Histogram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B35"/>
                </a:solidFill>
                <a:latin typeface="Calibri"/>
              </a:rPr>
              <a:t>DINOv2 visual-word histogram scored by Mahalanobis distance. Targets logical anomalies.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3246120"/>
            <a:ext cx="5367528" cy="16642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28816" y="3429000"/>
            <a:ext cx="4855464" cy="12984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F3A5F"/>
                </a:solidFill>
                <a:latin typeface="Trebuchet MS"/>
              </a:rPr>
              <a:t>Global Image-Stat (proxy)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B35"/>
                </a:solidFill>
                <a:latin typeface="Calibri"/>
              </a:rPr>
              <a:t>Single global descriptor vs. the normal mean. Fast image-level baseline (non-DINOv2).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166360"/>
            <a:ext cx="11091672" cy="10972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321808"/>
            <a:ext cx="1051560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1AB3A3"/>
                </a:solidFill>
                <a:latin typeface="Trebuchet MS"/>
              </a:rPr>
              <a:t>Fusion</a:t>
            </a:r>
          </a:p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Each detector is z-normalised on Validation(good) only, then combined (mean / max / rank-average). Complementary detectors fused beat any single 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3A5F"/>
                </a:solidFill>
                <a:latin typeface="Trebuchet MS"/>
              </a:rPr>
              <a:t>Results — fusion wins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69494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280160"/>
                <a:gridCol w="1280160"/>
                <a:gridCol w="128016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Trebuchet MS"/>
                        </a:rPr>
                        <a:t>Method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rebuchet MS"/>
                        </a:rPr>
                        <a:t>Logical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rebuchet MS"/>
                        </a:rPr>
                        <a:t>Structural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rebuchet MS"/>
                        </a:rPr>
                        <a:t>Overall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  <a:latin typeface="Calibri"/>
                        </a:rPr>
                        <a:t>Fusion (mean)</a:t>
                      </a:r>
                    </a:p>
                  </a:txBody>
                  <a:tcPr anchor="ctr">
                    <a:solidFill>
                      <a:srgbClr val="E7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3A5F"/>
                          </a:solidFill>
                          <a:latin typeface="Calibri"/>
                        </a:rPr>
                        <a:t>0.731</a:t>
                      </a:r>
                    </a:p>
                  </a:txBody>
                  <a:tcPr anchor="ctr">
                    <a:solidFill>
                      <a:srgbClr val="E7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3A5F"/>
                          </a:solidFill>
                          <a:latin typeface="Calibri"/>
                        </a:rPr>
                        <a:t>0.804</a:t>
                      </a:r>
                    </a:p>
                  </a:txBody>
                  <a:tcPr anchor="ctr">
                    <a:solidFill>
                      <a:srgbClr val="E7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3A5F"/>
                          </a:solidFill>
                          <a:latin typeface="Calibri"/>
                        </a:rPr>
                        <a:t>0.761</a:t>
                      </a:r>
                    </a:p>
                  </a:txBody>
                  <a:tcPr anchor="ctr">
                    <a:solidFill>
                      <a:srgbClr val="E7EF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5"/>
                          </a:solidFill>
                          <a:latin typeface="Calibri"/>
                        </a:rPr>
                        <a:t>DINOv2 Region-Aware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B35"/>
                          </a:solidFill>
                          <a:latin typeface="Calibri"/>
                        </a:rPr>
                        <a:t>0.730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B35"/>
                          </a:solidFill>
                          <a:latin typeface="Calibri"/>
                        </a:rPr>
                        <a:t>0.784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B35"/>
                          </a:solidFill>
                          <a:latin typeface="Calibri"/>
                        </a:rPr>
                        <a:t>0.750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5"/>
                          </a:solidFill>
                          <a:latin typeface="Calibri"/>
                        </a:rPr>
                        <a:t>DINOv2 Patch Memory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B35"/>
                          </a:solidFill>
                          <a:latin typeface="Calibri"/>
                        </a:rPr>
                        <a:t>0.697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B35"/>
                          </a:solidFill>
                          <a:latin typeface="Calibri"/>
                        </a:rPr>
                        <a:t>0.765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B35"/>
                          </a:solidFill>
                          <a:latin typeface="Calibri"/>
                        </a:rPr>
                        <a:t>0.724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5"/>
                          </a:solidFill>
                          <a:latin typeface="Calibri"/>
                        </a:rPr>
                        <a:t>Composition Histogram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B35"/>
                          </a:solidFill>
                          <a:latin typeface="Calibri"/>
                        </a:rPr>
                        <a:t>0.644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B35"/>
                          </a:solidFill>
                          <a:latin typeface="Calibri"/>
                        </a:rPr>
                        <a:t>0.498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B35"/>
                          </a:solidFill>
                          <a:latin typeface="Calibri"/>
                        </a:rPr>
                        <a:t>0.576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5"/>
                          </a:solidFill>
                          <a:latin typeface="Calibri"/>
                        </a:rPr>
                        <a:t>Global Image-Stat (proxy)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B35"/>
                          </a:solidFill>
                          <a:latin typeface="Calibri"/>
                        </a:rPr>
                        <a:t>0.634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B35"/>
                          </a:solidFill>
                          <a:latin typeface="Calibri"/>
                        </a:rPr>
                        <a:t>0.683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B35"/>
                          </a:solidFill>
                          <a:latin typeface="Calibri"/>
                        </a:rPr>
                        <a:t>0.655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726679" y="1554480"/>
            <a:ext cx="3931920" cy="3657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1400"/>
              </a:spcAft>
            </a:pPr>
            <a:r>
              <a:rPr sz="1300" b="0" i="1">
                <a:solidFill>
                  <a:srgbClr val="5A6774"/>
                </a:solidFill>
                <a:latin typeface="Calibri"/>
              </a:rPr>
              <a:t>Image-level AUROC, averaged over 5 categories.</a:t>
            </a:r>
          </a:p>
          <a:p>
            <a:pPr algn="l">
              <a:spcAft>
                <a:spcPts val="1000"/>
              </a:spcAft>
              <a:buChar char="▸"/>
            </a:pPr>
            <a:r>
              <a:rPr sz="1550" b="0" i="0">
                <a:solidFill>
                  <a:srgbClr val="222B35"/>
                </a:solidFill>
                <a:latin typeface="Calibri"/>
              </a:rPr>
              <a:t>Fusing a local detector with a global one beats either alone.</a:t>
            </a:r>
          </a:p>
          <a:p>
            <a:pPr algn="l">
              <a:spcAft>
                <a:spcPts val="1000"/>
              </a:spcAft>
              <a:buChar char="▸"/>
            </a:pPr>
            <a:r>
              <a:rPr sz="1550" b="0" i="0">
                <a:solidFill>
                  <a:srgbClr val="222B35"/>
                </a:solidFill>
                <a:latin typeface="Calibri"/>
              </a:rPr>
              <a:t>Region-aware memory is the strongest single detector and leads on structural.</a:t>
            </a:r>
          </a:p>
          <a:p>
            <a:pPr algn="l">
              <a:spcAft>
                <a:spcPts val="600"/>
              </a:spcAft>
              <a:buChar char="▸"/>
            </a:pPr>
            <a:r>
              <a:rPr sz="1550" b="0" i="0">
                <a:solidFill>
                  <a:srgbClr val="222B35"/>
                </a:solidFill>
                <a:latin typeface="Calibri"/>
              </a:rPr>
              <a:t>Real frozen DINOv2-small features — verified end-to-end and fully reproducible.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3A5F"/>
                </a:solidFill>
                <a:latin typeface="Trebuchet MS"/>
              </a:rPr>
              <a:t>Feature selection — fewer, better representations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486400" cy="4846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1200"/>
              </a:spcAft>
            </a:pPr>
            <a:r>
              <a:rPr sz="1550" b="0" i="0">
                <a:solidFill>
                  <a:srgbClr val="222B35"/>
                </a:solidFill>
                <a:latin typeface="Calibri"/>
              </a:rPr>
              <a:t>Each detector is a feature representation of the image. We rank them by single-branch AUROC and by leave-one-out contribution to the fusion.</a:t>
            </a:r>
          </a:p>
          <a:p>
            <a:pPr algn="l">
              <a:spcAft>
                <a:spcPts val="800"/>
              </a:spcAft>
              <a:buChar char="▸"/>
            </a:pPr>
            <a:r>
              <a:rPr sz="1550" b="0" i="0">
                <a:solidFill>
                  <a:srgbClr val="222B35"/>
                </a:solidFill>
                <a:latin typeface="Calibri"/>
              </a:rPr>
              <a:t>PatchCore is byte-identical to DINOv2 PatchMemory — a redundant duplicate.</a:t>
            </a:r>
          </a:p>
          <a:p>
            <a:pPr algn="l">
              <a:spcAft>
                <a:spcPts val="800"/>
              </a:spcAft>
              <a:buChar char="▸"/>
            </a:pPr>
            <a:r>
              <a:rPr sz="1550" b="0" i="0">
                <a:solidFill>
                  <a:srgbClr val="222B35"/>
                </a:solidFill>
                <a:latin typeface="Calibri"/>
              </a:rPr>
              <a:t>The Composition-Histogram branch is the only one that hurts the fusion (Δ &lt; 0).</a:t>
            </a:r>
          </a:p>
          <a:p>
            <a:pPr algn="l">
              <a:spcAft>
                <a:spcPts val="800"/>
              </a:spcAft>
              <a:buChar char="▸"/>
            </a:pPr>
            <a:r>
              <a:rPr sz="1600" b="1" i="0">
                <a:solidFill>
                  <a:srgbClr val="1F3A5F"/>
                </a:solidFill>
                <a:latin typeface="Calibri"/>
              </a:rPr>
              <a:t>Dropping both → a leaner 3-representation model: 0.764 overall, 0.826 structural — edging the full fusion with fewer features.</a:t>
            </a:r>
          </a:p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A6774"/>
                </a:solidFill>
                <a:latin typeface="Calibri"/>
              </a:rPr>
              <a:t>No anomalous validation images exist, so importance is test-assessed and reported as analysis; the headline 0.76 fusion stays pre-specified and untuned.</a:t>
            </a:r>
          </a:p>
        </p:txBody>
      </p:sp>
      <p:pic>
        <p:nvPicPr>
          <p:cNvPr id="4" name="Picture 3" descr="figure_feature_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377439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3A5F"/>
                </a:solidFill>
                <a:latin typeface="Trebuchet MS"/>
              </a:rPr>
              <a:t>An explainable, offline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029200" cy="4754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300"/>
              </a:spcAft>
              <a:buChar char="▸"/>
            </a:pPr>
            <a:r>
              <a:rPr sz="1700" b="1" i="0">
                <a:solidFill>
                  <a:srgbClr val="1F3A5F"/>
                </a:solidFill>
                <a:latin typeface="Trebuchet MS"/>
              </a:rPr>
              <a:t>Overview</a:t>
            </a:r>
          </a:p>
          <a:p>
            <a:pPr algn="l">
              <a:spcAft>
                <a:spcPts val="300"/>
              </a:spcAft>
              <a:buChar char="▸"/>
            </a:pPr>
            <a:r>
              <a:rPr sz="1700" b="1" i="0">
                <a:solidFill>
                  <a:srgbClr val="1F3A5F"/>
                </a:solidFill>
                <a:latin typeface="Trebuchet MS"/>
              </a:rPr>
              <a:t>EDA (relevant only)</a:t>
            </a:r>
          </a:p>
          <a:p>
            <a:pPr algn="l">
              <a:spcAft>
                <a:spcPts val="300"/>
              </a:spcAft>
              <a:buChar char="▸"/>
            </a:pPr>
            <a:r>
              <a:rPr sz="1700" b="1" i="0">
                <a:solidFill>
                  <a:srgbClr val="1F3A5F"/>
                </a:solidFill>
                <a:latin typeface="Trebuchet MS"/>
              </a:rPr>
              <a:t>Leaderboard</a:t>
            </a:r>
          </a:p>
          <a:p>
            <a:pPr algn="l">
              <a:spcAft>
                <a:spcPts val="300"/>
              </a:spcAft>
              <a:buChar char="▸"/>
            </a:pPr>
            <a:r>
              <a:rPr sz="1700" b="1" i="0">
                <a:solidFill>
                  <a:srgbClr val="1F3A5F"/>
                </a:solidFill>
                <a:latin typeface="Trebuchet MS"/>
              </a:rPr>
              <a:t>Explainability</a:t>
            </a:r>
          </a:p>
          <a:p>
            <a:pPr algn="l">
              <a:spcAft>
                <a:spcPts val="300"/>
              </a:spcAft>
              <a:buChar char="▸"/>
            </a:pPr>
            <a:r>
              <a:rPr sz="1700" b="1" i="0">
                <a:solidFill>
                  <a:srgbClr val="1F3A5F"/>
                </a:solidFill>
                <a:latin typeface="Trebuchet MS"/>
              </a:rPr>
              <a:t>Per-category drill-down</a:t>
            </a:r>
          </a:p>
          <a:p>
            <a:pPr algn="l">
              <a:spcAft>
                <a:spcPts val="600"/>
              </a:spcAft>
            </a:pPr>
            <a:r>
              <a:rPr sz="600" b="0" i="0">
                <a:solidFill>
                  <a:srgbClr val="5A6774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B35"/>
                </a:solidFill>
                <a:latin typeface="Calibri"/>
              </a:rPr>
              <a:t>One self-contained HTML file. Opens in any browser, fully offline — no install, no server, no internet. Every decision shows image, ground-truth, score vs. threshold, ✓/✗.</a:t>
            </a:r>
          </a:p>
        </p:txBody>
      </p:sp>
      <p:pic>
        <p:nvPicPr>
          <p:cNvPr id="4" name="Picture 3" descr="qualitative_success_c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620011"/>
            <a:ext cx="5806440" cy="42580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3A5F"/>
                </a:solidFill>
                <a:latin typeface="Trebuchet MS"/>
              </a:rPr>
              <a:t>Honest about where we stand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3611880" cy="2743200"/>
          </a:xfrm>
          <a:prstGeom prst="round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3611880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36192"/>
            <a:ext cx="333756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rebuchet MS"/>
              </a:rPr>
              <a:t>Ours — DINOv2 (now)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3337560" cy="1828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 i="0">
                <a:solidFill>
                  <a:srgbClr val="1F3A5F"/>
                </a:solidFill>
                <a:latin typeface="Trebuchet MS"/>
              </a:rPr>
              <a:t>0.76</a:t>
            </a:r>
          </a:p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222B35"/>
                </a:solidFill>
                <a:latin typeface="Calibri"/>
              </a:rPr>
              <a:t>frozen DINOv2-small,</a:t>
            </a:r>
          </a:p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222B35"/>
                </a:solidFill>
                <a:latin typeface="Calibri"/>
              </a:rPr>
              <a:t>fully reproducible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6552" y="1463040"/>
            <a:ext cx="3611880" cy="2743200"/>
          </a:xfrm>
          <a:prstGeom prst="round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16552" y="1463040"/>
            <a:ext cx="3611880" cy="640080"/>
          </a:xfrm>
          <a:prstGeom prst="roundRect">
            <a:avLst/>
          </a:prstGeom>
          <a:solidFill>
            <a:srgbClr val="1A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536192"/>
            <a:ext cx="333756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rebuchet MS"/>
              </a:rPr>
              <a:t>Ours + padding/base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286000"/>
            <a:ext cx="3337560" cy="1828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 i="0">
                <a:solidFill>
                  <a:srgbClr val="1AB3A3"/>
                </a:solidFill>
                <a:latin typeface="Trebuchet MS"/>
              </a:rPr>
              <a:t>~0.83–0.90</a:t>
            </a:r>
          </a:p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222B35"/>
                </a:solidFill>
                <a:latin typeface="Calibri"/>
              </a:rPr>
              <a:t>mask padding, DINOv2-base,</a:t>
            </a:r>
          </a:p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222B35"/>
                </a:solidFill>
                <a:latin typeface="Calibri"/>
              </a:rPr>
              <a:t>multi-seed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93023" y="1463040"/>
            <a:ext cx="3611880" cy="2743200"/>
          </a:xfrm>
          <a:prstGeom prst="round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93023" y="1463040"/>
            <a:ext cx="3611880" cy="640080"/>
          </a:xfrm>
          <a:prstGeom prst="roundRect">
            <a:avLst/>
          </a:prstGeom>
          <a:solidFill>
            <a:srgbClr val="5A6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0183" y="1536192"/>
            <a:ext cx="333756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rebuchet MS"/>
              </a:rPr>
              <a:t>SOTA (CSAD/SALAD)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0183" y="2286000"/>
            <a:ext cx="3337560" cy="1828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 i="0">
                <a:solidFill>
                  <a:srgbClr val="5A6774"/>
                </a:solidFill>
                <a:latin typeface="Trebuchet MS"/>
              </a:rPr>
              <a:t>0.95–0.96</a:t>
            </a:r>
          </a:p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222B35"/>
                </a:solidFill>
                <a:latin typeface="Calibri"/>
              </a:rPr>
              <a:t>component segmentation,</a:t>
            </a:r>
          </a:p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222B35"/>
                </a:solidFill>
                <a:latin typeface="Calibri"/>
              </a:rPr>
              <a:t>heavy training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26280"/>
            <a:ext cx="10881360" cy="1737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1F3A5F"/>
                </a:solidFill>
                <a:latin typeface="Trebuchet MS"/>
              </a:rPr>
              <a:t>Our contribution is rigor, reproducibility, and explainability — not chasing a leaderboard number.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B35"/>
                </a:solidFill>
                <a:latin typeface="Calibri"/>
              </a:rPr>
              <a:t>We name each method for what it actually computes, keep evaluation leakage-free, and audit the data end to end. Features are verified as real DINOv2; the remaining gap is padding-masking, a larger backbone, and multi-seed — not a redesign.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4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A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Trebuchet MS"/>
              </a:rPr>
              <a:t>Summary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1200"/>
              </a:spcAft>
              <a:buChar char="▸"/>
            </a:pPr>
            <a:r>
              <a:rPr sz="1800" b="0" i="0">
                <a:solidFill>
                  <a:srgbClr val="FFFFFF"/>
                </a:solidFill>
                <a:latin typeface="Calibri"/>
              </a:rPr>
              <a:t>A complete, working product: reproducible pipeline, four detectors + fusion, and an offline explainable dashboard.</a:t>
            </a:r>
          </a:p>
          <a:p>
            <a:pPr algn="l">
              <a:spcAft>
                <a:spcPts val="1200"/>
              </a:spcAft>
              <a:buChar char="▸"/>
            </a:pPr>
            <a:r>
              <a:rPr sz="1800" b="0" i="0">
                <a:solidFill>
                  <a:srgbClr val="FFFFFF"/>
                </a:solidFill>
                <a:latin typeface="Calibri"/>
              </a:rPr>
              <a:t>Best fusion: 0.76 overall AUROC (0.73 logical / 0.80 structural) on real DINOv2 features — a transparent, defensible result.</a:t>
            </a:r>
          </a:p>
          <a:p>
            <a:pPr algn="l">
              <a:spcAft>
                <a:spcPts val="1200"/>
              </a:spcAft>
              <a:buChar char="▸"/>
            </a:pPr>
            <a:r>
              <a:rPr sz="1800" b="0" i="0">
                <a:solidFill>
                  <a:srgbClr val="FFFFFF"/>
                </a:solidFill>
                <a:latin typeface="Calibri"/>
              </a:rPr>
              <a:t>Feature selection (drop redundant + harmful branches) gives a leaner, better model (0.764).</a:t>
            </a:r>
          </a:p>
          <a:p>
            <a:pPr algn="l">
              <a:spcAft>
                <a:spcPts val="0"/>
              </a:spcAft>
              <a:buChar char="▸"/>
            </a:pPr>
            <a:r>
              <a:rPr sz="1800" b="1" i="0">
                <a:solidFill>
                  <a:srgbClr val="1AB3A3"/>
                </a:solidFill>
                <a:latin typeface="Calibri"/>
              </a:rPr>
              <a:t>Next: mask letterbox padding, move to DINOv2-base, add the official sPRO metric, and report multi-seed confidence intervals.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156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CADCFC"/>
                </a:solidFill>
                <a:latin typeface="Calibri"/>
              </a:rPr>
              <a:t>Thank you — live demo: open dashboard.html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